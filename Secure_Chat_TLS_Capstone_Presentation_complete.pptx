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1508760"/>
            <a:ext cx="576072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Design and Development of a Real-Time Client–Server Chat Application Using Transport Layer Security (TLS) for Confidential and Reliable Communication</a:t>
            </a:r>
          </a:p>
          <a:p>
            <a:pPr>
              <a:spcAft>
                <a:spcPts val="600"/>
              </a:spcAft>
              <a:defRPr sz="1050">
                <a:solidFill>
                  <a:srgbClr val="BAE6FD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Secure Multi-Client Communication Architecture Protecting Data in Transit</a:t>
            </a:r>
          </a:p>
          <a:p>
            <a:r>
              <a:rPr sz="850" b="1">
                <a:solidFill>
                  <a:srgbClr val="000000"/>
                </a:solidFill>
                <a:latin typeface="Segoe UI"/>
              </a:rPr>
              <a:t>[TLS Security]  [Socket Programming]  [BCrypt Hashing]  [MySQL Storage]  [Activity Logging]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57607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E5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PROJECT SUPERVISION &amp; GUIDANCE</a:t>
            </a:r>
          </a:p>
          <a:p>
            <a:pPr>
              <a:spcAft>
                <a:spcPts val="1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Faculty Guide: Dr. SENTHAMIL SELVAN R</a:t>
            </a:r>
            <a:br>
              <a:rPr lang="en-IN" dirty="0"/>
            </a:br>
            <a:r>
              <a:rPr lang="en-IN" dirty="0" err="1">
                <a:solidFill>
                  <a:srgbClr val="000000"/>
                </a:solidFill>
              </a:rPr>
              <a:t>B.E,M.Tech</a:t>
            </a:r>
            <a:r>
              <a:rPr lang="en-IN" dirty="0">
                <a:solidFill>
                  <a:srgbClr val="000000"/>
                </a:solidFill>
              </a:rPr>
              <a:t>(CS),</a:t>
            </a:r>
            <a:r>
              <a:rPr lang="en-IN" dirty="0" err="1">
                <a:solidFill>
                  <a:srgbClr val="000000"/>
                </a:solidFill>
              </a:rPr>
              <a:t>M.Tech</a:t>
            </a:r>
            <a:r>
              <a:rPr lang="en-IN" dirty="0">
                <a:solidFill>
                  <a:srgbClr val="000000"/>
                </a:solidFill>
              </a:rPr>
              <a:t>(CSE), </a:t>
            </a:r>
            <a:r>
              <a:rPr lang="en-IN" dirty="0" err="1">
                <a:solidFill>
                  <a:srgbClr val="000000"/>
                </a:solidFill>
              </a:rPr>
              <a:t>Phd,MISTE,FIETEAssociate</a:t>
            </a:r>
            <a:r>
              <a:rPr lang="en-IN" dirty="0">
                <a:solidFill>
                  <a:srgbClr val="000000"/>
                </a:solidFill>
              </a:rPr>
              <a:t> Professor Department of ECESIMATS Engineering Saveetha </a:t>
            </a:r>
            <a:r>
              <a:rPr lang="en-IN" dirty="0" err="1">
                <a:solidFill>
                  <a:srgbClr val="000000"/>
                </a:solidFill>
              </a:rPr>
              <a:t>University,Thandalam,Chennai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57607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0E5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TEAM MEMBERS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• Maniyar Mohammad Rehan (192425391)    • </a:t>
            </a:r>
            <a:r>
              <a:rPr dirty="0" err="1">
                <a:solidFill>
                  <a:srgbClr val="000000"/>
                </a:solidFill>
              </a:rPr>
              <a:t>Kadhirezhilan</a:t>
            </a:r>
            <a:r>
              <a:rPr dirty="0">
                <a:solidFill>
                  <a:srgbClr val="000000"/>
                </a:solidFill>
              </a:rPr>
              <a:t> D (192511228)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• Kasi Yamini (192572181)    • </a:t>
            </a:r>
            <a:r>
              <a:rPr dirty="0" err="1">
                <a:solidFill>
                  <a:srgbClr val="000000"/>
                </a:solidFill>
              </a:rPr>
              <a:t>Marripudi</a:t>
            </a:r>
            <a:r>
              <a:rPr dirty="0">
                <a:solidFill>
                  <a:srgbClr val="000000"/>
                </a:solidFill>
              </a:rPr>
              <a:t> Madhulika (192472188)</a:t>
            </a:r>
          </a:p>
          <a:p>
            <a:pPr>
              <a:defRPr sz="90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• </a:t>
            </a:r>
            <a:r>
              <a:rPr dirty="0" err="1">
                <a:solidFill>
                  <a:srgbClr val="000000"/>
                </a:solidFill>
              </a:rPr>
              <a:t>Neelakandamoorth</a:t>
            </a:r>
            <a:r>
              <a:rPr dirty="0">
                <a:solidFill>
                  <a:srgbClr val="000000"/>
                </a:solidFill>
              </a:rPr>
              <a:t> Y C (192421063)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9984" y="1508760"/>
            <a:ext cx="4736592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ls_title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45336"/>
            <a:ext cx="4663440" cy="46360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437376"/>
            <a:ext cx="7772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BAE6FD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Real-Time Client–Server Chat Application Using TLS  |  Faculty Guide: Dr. SENTHAMIL SELVAN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00E5FF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Slide 01 of 17</a:t>
            </a:r>
          </a:p>
        </p:txBody>
      </p:sp>
      <p:pic>
        <p:nvPicPr>
          <p:cNvPr id="14" name="Picture 2" descr="SSE-Computer Science and Engineering">
            <a:extLst>
              <a:ext uri="{FF2B5EF4-FFF2-40B4-BE49-F238E27FC236}">
                <a16:creationId xmlns:a16="http://schemas.microsoft.com/office/drawing/2014/main" id="{E1CD7D8E-C9C7-E6E3-5928-A264351F8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19279" y="96541"/>
            <a:ext cx="10953135" cy="11602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Introduction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01. PROJECT OVERVIEW &amp; SECURE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02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Need for Secure Chat Systems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Modern real-time communication requires confidential and reliable data transmission. Unprotected socket channels expose private conversations to packet sniffing and tampering.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Vulnerabilities in Standard Sockets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Raw TCP socket architectures transmit payloads in cleartext. Without encryption, sensitive credentials and chat data can be intercepted across local or public networks.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Role of Transport Layer Security (TLS)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TLS establishes an encrypted cryptographic tunnel between the client and server, ensuring message confidentiality and verifying server authenticity.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Project Mission &amp; Deliverables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This project delivers a multi-client real-time chat application embedding TLS socket encryption, BCrypt authentication, MySQL persistence, and security auditing.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Security Goals (CIA Triad)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Implements Confidentiality (TLS encryption), Integrity (data verification), and Authentication (user credentials and digital certificates).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ls_title_netwo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1: Secure Client–Server Communication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Problem Statement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02. SECURITY CHALLENGES IN UNSECURED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03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Cleartext Data Sniffing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Unencrypted chat packets transmitted over open networks can be captured and read by malicious actors using network packet analyzers.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Man-in-the-Middle (MITM) Attacks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Adversaries positioned on untrusted network paths can intercept, inspect, or alter unauthenticated message streams.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Weak Credential Storage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Storing plaintext or weakly hashed passwords exposes user accounts to database breaches and unauthorized access.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Message Tampering &amp; Integrity Risks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Without cryptographic integrity protection, messages can be modified in transit without detection by sender or recipient.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Server Spoofing &amp; Impersonation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Lack of digital certificate verification allows rogue servers to masquerade as legitimate chat endpoints.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E11D48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Proposed Mitigation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Enforcing TLS socket encryption, digital certificate validation, and BCrypt salted password hashing to secure the communication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hreat_mitm_cyb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2: Network Security Threats and Interception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Project Objectives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03. CORE ENGINEERING GOALS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04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Real-Time Socket Architecture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Develop an asynchronous client-server communication framework using Python socket programming for fast real-time messaging.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TLS Secure Communication Layer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Wrap standard TCP socket streams inside TLS to encrypt all data exchanged between clients and the server.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Message Confidentiality &amp; Integrity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Ensure chat payloads cannot be read or modified by unauthorized third parties during transit over open networks.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Secure User Authentication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Build a secure user authentication system with BCrypt password hashing and session tokens to prevent unauthorized account access.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Database Management &amp; History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Store chat history and user profiles securely in a MySQL relational database for reliable message persistence and retrieval.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Security Monitoring &amp; Auditing – </a:t>
            </a:r>
            <a:r>
              <a:rPr sz="1050" b="0">
                <a:solidFill>
                  <a:srgbClr val="0F172A"/>
                </a:solidFill>
                <a:latin typeface="Segoe UI"/>
              </a:rPr>
              <a:t>Maintain real-time activity logging and failed login detection to track system events and identify potential security threats.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bjectives_pill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3: System Deliverables and Security Architecture Pillars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System Architecture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04. END-TO-END MESSAGE TRANSMISSION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05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1. CLIENT A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Sender enters chat message</a:t>
            </a:r>
            <a:br/>
            <a:r>
              <a:t>in graphical client UI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73552" y="2240280"/>
            <a:ext cx="347472" cy="292608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75887" y="178308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2. USER AUTHENTICATION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Validates user identity &amp;</a:t>
            </a:r>
            <a:br/>
            <a:r>
              <a:t>BCrypt session credentials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599" y="2240280"/>
            <a:ext cx="347472" cy="292608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45936" y="178308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3. TLS SECURE CONNECTION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Encrypts socket data stream</a:t>
            </a:r>
            <a:br/>
            <a:r>
              <a:t>using TLS cryptographic tunnel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13648" y="2240280"/>
            <a:ext cx="347472" cy="292608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15984" y="178308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0F2942"/>
                </a:solidFill>
                <a:latin typeface="Segoe UI"/>
              </a:defRPr>
            </a:pPr>
            <a:r>
              <a:t>4. CHAT SERVER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Central socket server handles</a:t>
            </a:r>
            <a:br/>
            <a:r>
              <a:t>connections &amp; message routing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976104" y="3154679"/>
            <a:ext cx="292608" cy="457200"/>
          </a:xfrm>
          <a:prstGeom prst="down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15984" y="393192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7C3AED"/>
                </a:solidFill>
                <a:latin typeface="Segoe UI"/>
              </a:defRPr>
            </a:pPr>
            <a:r>
              <a:t>5. MESSAGE PROCESSING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Parses chat payload format &amp;</a:t>
            </a:r>
            <a:br/>
            <a:r>
              <a:t>identifies recipient client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8613648" y="4389120"/>
            <a:ext cx="347472" cy="292608"/>
          </a:xfrm>
          <a:prstGeom prst="lef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393192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6. MYSQL DATABASE / HISTORY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Stores conversation record</a:t>
            </a:r>
            <a:br/>
            <a:r>
              <a:t>for reliable data persistence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5943599" y="4389120"/>
            <a:ext cx="347472" cy="292608"/>
          </a:xfrm>
          <a:prstGeom prst="lef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75887" y="393192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7. SECURITY MONITORING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Logs communication event &amp;</a:t>
            </a:r>
            <a:br/>
            <a:r>
              <a:t>audits for security anomalies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3273551" y="4389120"/>
            <a:ext cx="347472" cy="292608"/>
          </a:xfrm>
          <a:prstGeom prst="lef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5840" y="3931920"/>
            <a:ext cx="2212848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Ins="109728" rtlCol="0" anchor="ctr"/>
          <a:lstStyle/>
          <a:p>
            <a:pPr algn="ctr"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8. CLIENT B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Recipient client receives,</a:t>
            </a:r>
            <a:br/>
            <a:r>
              <a:t>decrypts &amp; renders chat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728655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Segoe UI"/>
              </a:defRPr>
            </a:pPr>
            <a:r>
              <a:t>Figure 4: End-to-End System Architecture Flowchart of the Secure Chat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Module 1: User Authentication &amp; Account Management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05. CORE SYSTEM 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06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563EB"/>
                </a:solidFill>
              </a:rPr>
              <a:t>Purpose: </a:t>
            </a:r>
            <a:r>
              <a:rPr sz="1100">
                <a:solidFill>
                  <a:srgbClr val="0F172A"/>
                </a:solidFill>
              </a:rPr>
              <a:t>Ensures only authorized, verified users can access the chat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User Registration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Enables new users to create accounts with unique usernames and validated credentials.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Secure Login Verification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Authenticates user identity before granting access to chat channels and messaging services.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BCrypt Password Hashing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Passwords are securely hashed using BCrypt before being stored in the database.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Session Management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Tracks active user sessions and securely manages associated socket connections.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Access Control &amp; Privacy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Ensures users can only access their authorized chats and private message histories.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uth_security_cryp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5: User Authentication and Credential Verification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Module 2: TLS Secure Communication Layer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06. CORE SYSTEM MODULE 2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731520" y="6300216"/>
            <a:ext cx="10728655" cy="10058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07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563EB"/>
                </a:solidFill>
              </a:rPr>
              <a:t>Purpose: </a:t>
            </a:r>
            <a:r>
              <a:rPr sz="1100">
                <a:solidFill>
                  <a:srgbClr val="0F172A"/>
                </a:solidFill>
              </a:rPr>
              <a:t>Protects client-server socket communication against eavesdropping and MITM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TLS Handshake Protocol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Establishes a secure connection by negotiating encryption keys between client and server.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Certificate Validation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Validates the server's digital certificate to confirm server authenticity and legitimacy.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Secure Connection Wrapping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Wraps standard TCP socket streams inside a secure TLS transport layer.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Encrypted Communication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TLS creates a secure connection and encrypts data exchanged between the client and server.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Protection Against Interception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Prevents unauthorized parties from eavesdropping, sniffing, or tampering with in-transit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ls_handshake_lay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6: TLS Handshake and Encrypted Communication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Module 3: Real-Time Messaging System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07. CORE SYSTEM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08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563EB"/>
                </a:solidFill>
              </a:rPr>
              <a:t>Purpose: </a:t>
            </a:r>
            <a:r>
              <a:rPr sz="1100">
                <a:solidFill>
                  <a:srgbClr val="0F172A"/>
                </a:solidFill>
              </a:rPr>
              <a:t>Enables fast, reliable, and real-time one-to-one message exchange between connected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One-to-One Messaging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Supports direct private chat sessions between authenticated clients.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Real-Time Message Delivery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The messaging system supports fast real-time communication between active users.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Online/Offline Presence Status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Provides real-time presence tracking so users know when their contacts are online.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Timestamps &amp; Sequencing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Attaches accurate timestamps to every message for chronological ordering.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Delivery Confirmation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Sends acknowledgments to confirm successful message transmission to the recipient.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_ui_realti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7: Real-Time Messaging and Client Interface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Module 4: Chat History &amp; Database Management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08. CORE SYSTEM MODULE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09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563EB"/>
                </a:solidFill>
              </a:rPr>
              <a:t>Purpose: </a:t>
            </a:r>
            <a:r>
              <a:rPr sz="1100">
                <a:solidFill>
                  <a:srgbClr val="0F172A"/>
                </a:solidFill>
              </a:rPr>
              <a:t>Stores and retrieves chat data securely, reliably, and efficiently with relational data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Secure Message Storage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Stores user messages safely in structured database tables to prevent unauthorized data access.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Chat History Persistence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Maintains complete, chronological conversation logs accessible across user sessions.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Efficient Message Retrieval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Quickly fetches past conversation records when a user opens a chat conversation.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MySQL Database Management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Manages database connections, user profiles, and message schemas with relational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tabase_crypto_vau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8: Chat History Storage and MySQL Database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Module 5: Security Monitoring &amp; Activity Logging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09. CORE SYSTEM MODULE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10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2563EB"/>
                </a:solidFill>
              </a:rPr>
              <a:t>Purpose: </a:t>
            </a:r>
            <a:r>
              <a:rPr sz="1100">
                <a:solidFill>
                  <a:srgbClr val="0F172A"/>
                </a:solidFill>
              </a:rPr>
              <a:t>Monitors system activity in real time and proactively identifies potential security threats.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Login Monitoring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Tracks user connection times, active sessions, and client endpoints in real time.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Failed Login Detection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Detects repeated unsuccessful login attempts to identify potential brute-force activity.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Activity Logging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Maintains structured server logs of all major system events for troubleshooting and audits.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Security Event Auditing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Monitors connection errors, invalid session tokens, and unexpected socket disconnections.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Suspicious Activity Alerts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Flags unusual traffic or connection patterns to safeguard server stability and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ecurity_monitoring_so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9: Security Monitoring and Activity Audit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Technologies Used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10. SYSTEM TECHNOLOGY STACK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11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514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233172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SECURITY &amp;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240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TLS Protocol
</a:t>
            </a:r>
            <a:r>
              <a:rPr sz="900">
                <a:solidFill>
                  <a:srgbClr val="0F172A"/>
                </a:solidFill>
                <a:latin typeface="Segoe UI"/>
              </a:rPr>
              <a:t>Encrypted transport layer for socket communication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Digital Certificates
</a:t>
            </a:r>
            <a:r>
              <a:rPr sz="900">
                <a:solidFill>
                  <a:srgbClr val="0F172A"/>
                </a:solidFill>
                <a:latin typeface="Segoe UI"/>
              </a:rPr>
              <a:t>Server identity authentication &amp; verification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BCrypt Hashing
</a:t>
            </a:r>
            <a:r>
              <a:rPr sz="900">
                <a:solidFill>
                  <a:srgbClr val="0F172A"/>
                </a:solidFill>
                <a:latin typeface="Segoe UI"/>
              </a:rPr>
              <a:t>Secure salted password hashing before storage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Cipher Suites
</a:t>
            </a:r>
            <a:r>
              <a:rPr sz="900">
                <a:solidFill>
                  <a:srgbClr val="0F172A"/>
                </a:solidFill>
                <a:latin typeface="Segoe UI"/>
              </a:rPr>
              <a:t>Standard symmetric ciphers for message encryption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554480"/>
            <a:ext cx="2514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57016" y="1664208"/>
            <a:ext cx="2331720" cy="3657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BACKEND &amp;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148840"/>
            <a:ext cx="2240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0F2942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Python 3.x
</a:t>
            </a:r>
            <a:r>
              <a:rPr sz="900">
                <a:solidFill>
                  <a:srgbClr val="0F172A"/>
                </a:solidFill>
                <a:latin typeface="Segoe UI"/>
              </a:rPr>
              <a:t>Core backend application programming language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0F2942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TCP Sockets
</a:t>
            </a:r>
            <a:r>
              <a:rPr sz="900">
                <a:solidFill>
                  <a:srgbClr val="0F172A"/>
                </a:solidFill>
                <a:latin typeface="Segoe UI"/>
              </a:rPr>
              <a:t>Low-level network socket communication protocol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0F2942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Multi-Threading
</a:t>
            </a:r>
            <a:r>
              <a:rPr sz="900">
                <a:solidFill>
                  <a:srgbClr val="0F172A"/>
                </a:solidFill>
                <a:latin typeface="Segoe UI"/>
              </a:rPr>
              <a:t>Handles concurrent multi-client connections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0F2942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SSL Module
</a:t>
            </a:r>
            <a:r>
              <a:rPr sz="900">
                <a:solidFill>
                  <a:srgbClr val="0F172A"/>
                </a:solidFill>
                <a:latin typeface="Segoe UI"/>
              </a:rPr>
              <a:t>Python standard library for TLS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2514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91072" y="1664208"/>
            <a:ext cx="2331720" cy="3657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DATABASE &amp;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148840"/>
            <a:ext cx="2240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MySQL Database
</a:t>
            </a:r>
            <a:r>
              <a:rPr sz="900">
                <a:solidFill>
                  <a:srgbClr val="0F172A"/>
                </a:solidFill>
                <a:latin typeface="Segoe UI"/>
              </a:rPr>
              <a:t>Relational database for chat and user data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PyMySQL Connector
</a:t>
            </a:r>
            <a:r>
              <a:rPr sz="900">
                <a:solidFill>
                  <a:srgbClr val="0F172A"/>
                </a:solidFill>
                <a:latin typeface="Segoe UI"/>
              </a:rPr>
              <a:t>Database connection driver for Python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Structured Tables
</a:t>
            </a:r>
            <a:r>
              <a:rPr sz="900">
                <a:solidFill>
                  <a:srgbClr val="0F172A"/>
                </a:solidFill>
                <a:latin typeface="Segoe UI"/>
              </a:rPr>
              <a:t>Organized schemas for users and chat history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Data Integrity
</a:t>
            </a:r>
            <a:r>
              <a:rPr sz="900">
                <a:solidFill>
                  <a:srgbClr val="0F172A"/>
                </a:solidFill>
                <a:latin typeface="Segoe UI"/>
              </a:rPr>
              <a:t>Relational consistency across conversations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554480"/>
            <a:ext cx="25146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25128" y="1664208"/>
            <a:ext cx="233172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73152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FRONTEND &amp; CLIENT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148840"/>
            <a:ext cx="2240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7C3AED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Client Interface
</a:t>
            </a:r>
            <a:r>
              <a:rPr sz="900">
                <a:solidFill>
                  <a:srgbClr val="0F172A"/>
                </a:solidFill>
                <a:latin typeface="Segoe UI"/>
              </a:rPr>
              <a:t>Clean and responsive graphical chat interface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7C3AED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Event Handling
</a:t>
            </a:r>
            <a:r>
              <a:rPr sz="900">
                <a:solidFill>
                  <a:srgbClr val="0F172A"/>
                </a:solidFill>
                <a:latin typeface="Segoe UI"/>
              </a:rPr>
              <a:t>Real-time UI updates for incoming messages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7C3AED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Status Indicators
</a:t>
            </a:r>
            <a:r>
              <a:rPr sz="900">
                <a:solidFill>
                  <a:srgbClr val="0F172A"/>
                </a:solidFill>
                <a:latin typeface="Segoe UI"/>
              </a:rPr>
              <a:t>Visual indicators for online and offline status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00" b="1">
                <a:solidFill>
                  <a:srgbClr val="7C3AED"/>
                </a:solidFill>
                <a:latin typeface="Segoe UI"/>
              </a:rPr>
              <a:t>• </a:t>
            </a:r>
            <a:r>
              <a:rPr sz="1050" b="1">
                <a:solidFill>
                  <a:srgbClr val="0F2942"/>
                </a:solidFill>
                <a:latin typeface="Segoe UI"/>
              </a:rPr>
              <a:t>Chat History View
</a:t>
            </a:r>
            <a:r>
              <a:rPr sz="900">
                <a:solidFill>
                  <a:srgbClr val="0F172A"/>
                </a:solidFill>
                <a:latin typeface="Segoe UI"/>
              </a:rPr>
              <a:t>Scrollable message window with timestamps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728655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Segoe UI"/>
              </a:defRPr>
            </a:pPr>
            <a:r>
              <a:t>Figure 10: Complete System Technology Stack and Modular Component Breakdown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Literature Review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11. RECENT RESEARCH IN TLS &amp; SECURE COMMUNICATIONS (2024–2026)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12 of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Research Focus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/ Technology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  <a:latin typeface="Segoe UI"/>
                        </a:defRPr>
                      </a:pPr>
                      <a:r>
                        <a:t>Zheng et al.</a:t>
                      </a:r>
                      <a:br/>
                      <a:r>
                        <a:t>(2024) [ESORICS]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Post-Quantum TLS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ML-KEM key encapsulation in TLS 1.3 handshake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Demonstrates efficient cryptographic handshakes with low computational overhead.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  <a:latin typeface="Segoe UI"/>
                        </a:defRPr>
                      </a:pPr>
                      <a:r>
                        <a:t>Zhou et al.</a:t>
                      </a:r>
                      <a:br/>
                      <a:r>
                        <a:t>(2024) [MDPI Electronics]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Encrypted Traffic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Encrypted ClientHello (ECH) &amp; traffic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Confirms TLS 1.3 effectively shields user communication against network eavesdropping.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  <a:latin typeface="Segoe UI"/>
                        </a:defRPr>
                      </a:pPr>
                      <a:r>
                        <a:t>Lastre et al.</a:t>
                      </a:r>
                      <a:br/>
                      <a:r>
                        <a:t>(2025) [MDPI Sensors]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Handshake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 handshake resumption &amp; security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Evaluates connection setup optimization while preserving forward secrecy and authentication.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  <a:latin typeface="Segoe UI"/>
                        </a:defRPr>
                      </a:pPr>
                      <a:r>
                        <a:t>Kumar &amp; Sharma</a:t>
                      </a:r>
                      <a:br/>
                      <a:r>
                        <a:t>(2025) [J. Prog. Electr.]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Socket 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TLS vs raw socket benchmarks over TCP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Shows TLS provides robust security with minimal impact on real-time socket communication.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  <a:latin typeface="Segoe UI"/>
                        </a:defRPr>
                      </a:pPr>
                      <a:r>
                        <a:t>Al-Sharif &amp; Ben-Othman</a:t>
                      </a:r>
                      <a:br/>
                      <a:r>
                        <a:t>(2026) [IEEE TNSM]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Transport Layer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Latency evaluation of secure socket 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Verifies that modern TLS encryption is well-suited for interactive real-time messaging.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035040"/>
            <a:ext cx="10728655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Segoe UI"/>
              </a:defRPr>
            </a:pPr>
            <a:r>
              <a:t>Figure 11: Summary of Recent Academic Literature on TLS and Secure Communications (2024–2026)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System Advantages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12. KEY ARCHITECTURAL &amp; SECURITY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13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Message Confidentiality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Encrypts all communication using TLS, ensuring messages cannot be read by network eavesdroppers.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Data Integrity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Protects messages against unauthorized modification or tampering during transmission across the network.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Robust Authentication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Verifies user identities and securely hashes passwords before database storage using BCrypt.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Real-Time Reliability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Asynchronous socket architecture enables fast message delivery, live presence tracking, and delivery confirmations.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Security Auditing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Comprehensive activity logging and failed login detection provide clear visibility into system access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dvantages_cryp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12: Key Architectural Strengths and Security Advantages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Future Enhancements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13. SYSTEM DEVELOPMENT ROADMAP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14 of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0116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179222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54864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50" b="1">
                <a:solidFill>
                  <a:srgbClr val="0F2942"/>
                </a:solidFill>
                <a:latin typeface="Segoe UI"/>
              </a:defRPr>
            </a:pPr>
            <a:r>
              <a:t>Group Messaging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34640"/>
            <a:ext cx="1792224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Multi-user chat rooms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Channel-based permissions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Topic-specific discussions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61488" y="3520440"/>
            <a:ext cx="128015" cy="219456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07792" y="1554480"/>
            <a:ext cx="20116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17520" y="1664208"/>
            <a:ext cx="1792224" cy="329184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54864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103120"/>
            <a:ext cx="1828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50" b="1">
                <a:solidFill>
                  <a:srgbClr val="0F2942"/>
                </a:solidFill>
                <a:latin typeface="Segoe UI"/>
              </a:defRPr>
            </a:pPr>
            <a:r>
              <a:t>Secure File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34640"/>
            <a:ext cx="1792224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0F2942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Encrypted document transfer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0F2942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In-transit TLS protection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0F2942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Integrity checksum checks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60" y="3520440"/>
            <a:ext cx="128015" cy="219456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4064" y="1554480"/>
            <a:ext cx="20116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93792" y="1664208"/>
            <a:ext cx="1792224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54864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103120"/>
            <a:ext cx="1828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50" b="1">
                <a:solidFill>
                  <a:srgbClr val="0F2942"/>
                </a:solidFill>
                <a:latin typeface="Segoe UI"/>
              </a:defRPr>
            </a:pPr>
            <a:r>
              <a:t>End-to-End Encryption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834640"/>
            <a:ext cx="1792224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Client-to-client encryption (E2EE)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Direct cryptographic keys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Advanced conversation privacy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4032" y="3520440"/>
            <a:ext cx="128015" cy="219456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0336" y="1554480"/>
            <a:ext cx="20116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70064" y="1664208"/>
            <a:ext cx="1792224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54864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6" y="2103120"/>
            <a:ext cx="1828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50" b="1">
                <a:solidFill>
                  <a:srgbClr val="0F2942"/>
                </a:solidFill>
                <a:latin typeface="Segoe UI"/>
              </a:defRPr>
            </a:pPr>
            <a:r>
              <a:t>Voice &amp; Video Calling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834640"/>
            <a:ext cx="1792224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Real-time audio &amp; video calls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Encrypted media streaming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Direct peer communication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90304" y="3520440"/>
            <a:ext cx="128015" cy="219456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36608" y="1554480"/>
            <a:ext cx="20116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46336" y="1664208"/>
            <a:ext cx="1792224" cy="329184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54864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103120"/>
            <a:ext cx="1828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150" b="1">
                <a:solidFill>
                  <a:srgbClr val="0F2942"/>
                </a:solidFill>
                <a:latin typeface="Segoe UI"/>
              </a:defRPr>
            </a:pPr>
            <a:r>
              <a:t>Multi-Factor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834640"/>
            <a:ext cx="1792224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D97706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Two-factor authentication (2FA)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D97706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Time-based OTP verification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b="1">
                <a:solidFill>
                  <a:srgbClr val="D97706"/>
                </a:solidFill>
                <a:latin typeface="Segoe UI"/>
              </a:rPr>
              <a:t>• </a:t>
            </a:r>
            <a:r>
              <a:rPr sz="950">
                <a:solidFill>
                  <a:srgbClr val="0F172A"/>
                </a:solidFill>
                <a:latin typeface="Segoe UI"/>
              </a:rPr>
              <a:t>Protection against account theft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728655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Segoe UI"/>
              </a:defRPr>
            </a:pPr>
            <a:r>
              <a:t>Figure 13: Future System Development Roadmap and Functional Milestones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Conclusion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14. PROJECT SUMMARY &amp; ENGINEERING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15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Secure Real-Time Messaging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Successfully designed and implemented a multi-client chat system enabling fast real-time communication.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Transport Layer Security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Integrated TLS encryption to protect message confidentiality and validate server authenticity against network threats.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Authentication &amp; Data Integrity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Implemented secure user registration, salted password hashing using BCrypt, and structured MySQL database storage.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Proactive Security Auditing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Incorporated real-time login monitoring and failed attempt tracking to maintain system security and operational visibility.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Capstone Engineering Outcome – </a:t>
            </a:r>
            <a:r>
              <a:rPr sz="1100" b="0">
                <a:solidFill>
                  <a:srgbClr val="0F172A"/>
                </a:solidFill>
                <a:latin typeface="Segoe UI"/>
              </a:rPr>
              <a:t>Demonstrates a practical, robust, and extensible client–server chat architecture effectively resolving common network vulnerabilities.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627632"/>
            <a:ext cx="4517136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nclusion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4805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815584"/>
            <a:ext cx="50292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950" b="0" i="1">
                <a:solidFill>
                  <a:srgbClr val="475569"/>
                </a:solidFill>
                <a:latin typeface="Segoe UI"/>
              </a:defRPr>
            </a:pPr>
            <a:r>
              <a:t>Figure 14: Final System Architecture and Core Capstone 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ats_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34440" cy="1097280"/>
          </a:xfrm>
          <a:prstGeom prst="rect">
            <a:avLst/>
          </a:prstGeom>
        </p:spPr>
      </p:pic>
      <p:pic>
        <p:nvPicPr>
          <p:cNvPr id="3" name="Picture 2" descr="saveetha_uni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519" y="292608"/>
            <a:ext cx="8442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2942"/>
                </a:solidFill>
                <a:latin typeface="Segoe UI"/>
              </a:defRPr>
            </a:pPr>
            <a:r>
              <a:t>References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15. ACADEMIC LITERATURE &amp; SECURITY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Slide 16 of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28655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[1]  </a:t>
            </a:r>
            <a:r>
              <a:rPr sz="1050">
                <a:solidFill>
                  <a:srgbClr val="0F172A"/>
                </a:solidFill>
                <a:latin typeface="Segoe UI"/>
              </a:rPr>
              <a:t>J. Zheng, H. Zhu, Y. Dong, Z. Song, Z. Zhang, Y. Yang, and Y. Zhao, "Faster Post-quantum TLS 1.3 Based on ML-KEM: Implementation and Assessment," in Proc. 29th European Symposium on Research in Computer Security (ESORICS 2024), Springer LNCS, vol. 14984, pp. 245–264, 2024.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[2]  </a:t>
            </a:r>
            <a:r>
              <a:rPr sz="1050">
                <a:solidFill>
                  <a:srgbClr val="0F172A"/>
                </a:solidFill>
                <a:latin typeface="Segoe UI"/>
              </a:rPr>
              <a:t>J. Zhou, W. Fu, W. Hu, Z. Sun, T. He, and Z. Zhang, "Challenges and Advances in Analyzing TLS 1.3-Encrypted Traffic: A Comprehensive Survey," Electronics, MDPI, vol. 13, no. 20, art. 4000, pp. 1–28, Oct. 2024.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[3]  </a:t>
            </a:r>
            <a:r>
              <a:rPr sz="1050">
                <a:solidFill>
                  <a:srgbClr val="0F172A"/>
                </a:solidFill>
                <a:latin typeface="Segoe UI"/>
              </a:rPr>
              <a:t>J. K. Lastre, Y. Ko, H. Kwon, and I. You, "Evaluating Transport Layer Security 1.3 Optimization Strategies: A Security and Performance Analysis," Sensors, MDPI, vol. 25, no. 19, art. 6120, Oct. 2025.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[4]  </a:t>
            </a:r>
            <a:r>
              <a:rPr sz="1050">
                <a:solidFill>
                  <a:srgbClr val="0F172A"/>
                </a:solidFill>
                <a:latin typeface="Segoe UI"/>
              </a:rPr>
              <a:t>A. Kumar and R. Sharma, "Performance and Security Evaluation of TLS 1.3 in Real-Time Web and Socket Applications," Journal of Progress in Electronics and Communication Engineering, vol. 11, no. 2, pp. 114–128, 2025.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[5]  </a:t>
            </a:r>
            <a:r>
              <a:rPr sz="1050">
                <a:solidFill>
                  <a:srgbClr val="0F172A"/>
                </a:solidFill>
                <a:latin typeface="Segoe UI"/>
              </a:rPr>
              <a:t>M. Al-Sharif and J. Ben-Othman, "Layered Performance Analysis of TLS 1.3 Handshakes in Real-Time Networks," IEEE Transactions on Network and Service Management, vol. 23, no. 1, pp. 102–117, 2026.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[6]  </a:t>
            </a:r>
            <a:r>
              <a:rPr sz="1050">
                <a:solidFill>
                  <a:srgbClr val="0F172A"/>
                </a:solidFill>
                <a:latin typeface="Segoe UI"/>
              </a:rPr>
              <a:t>E. Rescorla, "The Transport Layer Security (TLS) Protocol Version 1.3," RFC 8446, Internet Engineering Task Force (IETF) Standards Track, DOI: 10.17487/RFC8446, 2018.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60120"/>
            <a:ext cx="5852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100" b="1">
                <a:solidFill>
                  <a:srgbClr val="00E5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PROJECT PRESENTATION COMPLETE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THANK YOU</a:t>
            </a:r>
          </a:p>
          <a:p>
            <a:pPr>
              <a:spcAft>
                <a:spcPts val="1800"/>
              </a:spcAft>
              <a:defRPr sz="1800" b="1">
                <a:solidFill>
                  <a:srgbClr val="BAE6FD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Questions &amp; Discussion Are Welcome</a:t>
            </a:r>
          </a:p>
          <a:p>
            <a:pPr>
              <a:spcAft>
                <a:spcPts val="14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Design and Development of a Real-Time Client–Server Chat Application Using Transport Layer Security (TLS)</a:t>
            </a:r>
          </a:p>
          <a:p>
            <a:pPr>
              <a:spcAft>
                <a:spcPts val="3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rPr dirty="0">
                <a:solidFill>
                  <a:srgbClr val="000000"/>
                </a:solidFill>
              </a:rPr>
              <a:t>Faculty Guide: Dr. SENTHAMIL SELVAN 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29984" y="923544"/>
            <a:ext cx="4736592" cy="519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ank_you_cyb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60120"/>
            <a:ext cx="4663440" cy="5120640"/>
          </a:xfrm>
          <a:prstGeom prst="rect">
            <a:avLst/>
          </a:prstGeom>
          <a:ln>
            <a:solidFill/>
          </a:ln>
        </p:spPr>
      </p:pic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37376"/>
            <a:ext cx="7772400" cy="320040"/>
          </a:xfrm>
          <a:prstGeom prst="rect">
            <a:avLst/>
          </a:prstGeom>
          <a:noFill/>
          <a:ln>
            <a:solidFill/>
          </a:ln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BAE6FD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Real-Time Client–Server Chat Application Using TLS  |  Faculty Guide: Dr. SENTHAMIL SELVAN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37376"/>
            <a:ext cx="1858975" cy="320040"/>
          </a:xfrm>
          <a:prstGeom prst="rect">
            <a:avLst/>
          </a:prstGeom>
          <a:noFill/>
          <a:ln>
            <a:solidFill/>
          </a:ln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00E5FF"/>
                </a:solidFill>
                <a:latin typeface="Segoe UI"/>
              </a:defRPr>
            </a:pPr>
            <a:r>
              <a:rPr>
                <a:solidFill>
                  <a:srgbClr val="000000"/>
                </a:solidFill>
              </a:rPr>
              <a:t>Slide 17 of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2805</Words>
  <Application>Microsoft Office PowerPoint</Application>
  <PresentationFormat>Widescreen</PresentationFormat>
  <Paragraphs>239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Maniyar Mohammad Rehan</dc:creator>
  <cp:keywords/>
  <dc:description>generated using python-pptx</dc:description>
  <cp:lastModifiedBy>Maniyar Mohammad Rehan</cp:lastModifiedBy>
  <cp:revision>5</cp:revision>
  <dcterms:created xsi:type="dcterms:W3CDTF">2013-01-27T09:14:16Z</dcterms:created>
  <dcterms:modified xsi:type="dcterms:W3CDTF">2026-09-02T06:19:24Z</dcterms:modified>
  <cp:category/>
</cp:coreProperties>
</file>